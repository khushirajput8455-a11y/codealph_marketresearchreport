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70" r:id="rId5"/>
    <p:sldId id="271" r:id="rId6"/>
    <p:sldId id="262" r:id="rId7"/>
    <p:sldId id="269" r:id="rId8"/>
    <p:sldId id="264" r:id="rId9"/>
    <p:sldId id="268" r:id="rId10"/>
    <p:sldId id="265" r:id="rId11"/>
    <p:sldId id="272" r:id="rId12"/>
    <p:sldId id="266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7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A33B00-5F22-48AB-ACE8-B509E80F829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12C127-0897-4A6C-9FDB-3A3CCE63A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637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21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0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3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80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50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2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15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156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88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41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5495-B226-4D5E-8A77-86DE5194669B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7CC5-9C20-480F-9189-32D154FC7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1378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95897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MARKET RESEARCH REPORT on Tesla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SWOT Analysis, Target audience, Competitors, and Market trends</a:t>
            </a:r>
          </a:p>
          <a:p>
            <a:endParaRPr lang="en-US" dirty="0"/>
          </a:p>
          <a:p>
            <a:r>
              <a:rPr lang="en-US" dirty="0" smtClean="0"/>
              <a:t>Date : June 2026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524000" y="1828800"/>
            <a:ext cx="7772400" cy="1470025"/>
          </a:xfrm>
          <a:prstGeom prst="rect">
            <a:avLst/>
          </a:prstGeom>
          <a:ln w="28575"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MARKET </a:t>
            </a:r>
            <a:r>
              <a:rPr lang="en-US" sz="6000" dirty="0" smtClean="0"/>
              <a:t>RESEARCH</a:t>
            </a:r>
          </a:p>
          <a:p>
            <a:r>
              <a:rPr lang="en-US" sz="6000" dirty="0" smtClean="0"/>
              <a:t>REPORT ON TESLA</a:t>
            </a:r>
            <a:r>
              <a:rPr lang="en-US" sz="6000" dirty="0"/>
              <a:t/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981200" y="35814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Arial" pitchFamily="34" charset="0"/>
              <a:buChar char="•"/>
            </a:pPr>
            <a:r>
              <a:rPr lang="en-US" sz="3600" b="1" i="1" dirty="0" smtClean="0">
                <a:solidFill>
                  <a:srgbClr val="C00000"/>
                </a:solidFill>
              </a:rPr>
              <a:t>SWOT Analysis , Target audience, Competitors, and Market trends</a:t>
            </a:r>
          </a:p>
          <a:p>
            <a:endParaRPr lang="en-US" sz="3600" b="1" i="1" dirty="0" smtClean="0">
              <a:solidFill>
                <a:srgbClr val="C00000"/>
              </a:solidFill>
            </a:endParaRPr>
          </a:p>
          <a:p>
            <a:r>
              <a:rPr lang="en-US" sz="3600" b="1" i="1" dirty="0" smtClean="0">
                <a:solidFill>
                  <a:srgbClr val="C00000"/>
                </a:solidFill>
              </a:rPr>
              <a:t>Date : June 2026</a:t>
            </a:r>
          </a:p>
        </p:txBody>
      </p:sp>
    </p:spTree>
    <p:extLst>
      <p:ext uri="{BB962C8B-B14F-4D97-AF65-F5344CB8AC3E}">
        <p14:creationId xmlns:p14="http://schemas.microsoft.com/office/powerpoint/2010/main" val="4097301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INTRODUTION  OF TESLA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Tesla is one of the world’s leading electric vehicle (EV) and clean energy companies. Founded by </a:t>
            </a:r>
            <a:r>
              <a:rPr lang="en-US" dirty="0" err="1" smtClean="0"/>
              <a:t>Elon</a:t>
            </a:r>
            <a:r>
              <a:rPr lang="en-US" dirty="0" smtClean="0"/>
              <a:t> Musk and others, Tesla focuses on sustainable transportation, battery technology, solar energy, and innovation. The company has transformed the automobile industry through advanced electric cars, autonomous driving technology, and a strong brand image.</a:t>
            </a:r>
          </a:p>
          <a:p>
            <a:pPr marL="0" indent="0">
              <a:buNone/>
            </a:pPr>
            <a:r>
              <a:rPr lang="en-US" dirty="0" smtClean="0"/>
              <a:t> This report analyzes Tesla’s SWOT analysis, target audience, competition, and current market trends.  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57" y="-10886"/>
            <a:ext cx="9144000" cy="6832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07457" y="2282149"/>
            <a:ext cx="74676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 Tesla is one of the world’s leading electric vehicle (EV) and clean energy companies. Founded by </a:t>
            </a:r>
            <a:r>
              <a:rPr lang="en-US" sz="2800" i="1" dirty="0" err="1"/>
              <a:t>Elon</a:t>
            </a:r>
            <a:r>
              <a:rPr lang="en-US" sz="2800" i="1" dirty="0"/>
              <a:t> Musk and others, Tesla focuses on sustainable transportation, battery technology, solar energy, and innovation. The company has transformed the automobile industry through advanced electric cars, autonomous driving technology, and a strong brand image.</a:t>
            </a:r>
          </a:p>
          <a:p>
            <a:r>
              <a:rPr lang="en-US" sz="2800" i="1" dirty="0"/>
              <a:t> This report </a:t>
            </a:r>
            <a:r>
              <a:rPr lang="en-US" sz="2800" i="1" dirty="0" smtClean="0"/>
              <a:t>analyzes </a:t>
            </a:r>
            <a:r>
              <a:rPr lang="en-US" sz="2800" i="1" dirty="0"/>
              <a:t>Tesla’s SWOT analysis, target audience, competition, and current market trends.   </a:t>
            </a:r>
          </a:p>
          <a:p>
            <a:endParaRPr lang="en-US" sz="2800" i="1" dirty="0"/>
          </a:p>
        </p:txBody>
      </p:sp>
      <p:sp>
        <p:nvSpPr>
          <p:cNvPr id="8" name="TextBox 7"/>
          <p:cNvSpPr txBox="1"/>
          <p:nvPr/>
        </p:nvSpPr>
        <p:spPr>
          <a:xfrm>
            <a:off x="2133600" y="152400"/>
            <a:ext cx="5867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u="sng" dirty="0" smtClean="0">
                <a:solidFill>
                  <a:srgbClr val="C00000"/>
                </a:solidFill>
              </a:rPr>
              <a:t>Introduction of Tesla</a:t>
            </a:r>
            <a:endParaRPr lang="en-US" sz="6600" b="1" i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27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"/>
            <a:ext cx="9144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37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95400" y="1397675"/>
            <a:ext cx="25908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2000" i="1" dirty="0">
              <a:solidFill>
                <a:schemeClr val="bg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4191000"/>
            <a:ext cx="27432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2000" i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"/>
            <a:ext cx="9144000" cy="6553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1720334"/>
            <a:ext cx="42672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23371" y="1597730"/>
            <a:ext cx="4038600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i="1" dirty="0" smtClean="0">
                <a:solidFill>
                  <a:schemeClr val="bg1"/>
                </a:solidFill>
              </a:rPr>
              <a:t>1</a:t>
            </a:r>
            <a:r>
              <a:rPr lang="en-US" sz="2400" i="1" dirty="0">
                <a:solidFill>
                  <a:schemeClr val="bg1"/>
                </a:solidFill>
              </a:rPr>
              <a:t>. Strong Brand Image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2. Technological Innovation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3. Global Market Presence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4. Sustainability Focus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5. High Customer Loyalty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13514" y="4080808"/>
            <a:ext cx="4401457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endParaRPr lang="en-US" sz="2400" i="1" dirty="0">
              <a:solidFill>
                <a:schemeClr val="bg1"/>
              </a:solidFill>
            </a:endParaRPr>
          </a:p>
          <a:p>
            <a:r>
              <a:rPr lang="en-US" sz="2400" i="1" dirty="0">
                <a:solidFill>
                  <a:schemeClr val="bg1"/>
                </a:solidFill>
              </a:rPr>
              <a:t>1. High Product Prices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2. Limited Service Centers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3. Production Delays</a:t>
            </a:r>
          </a:p>
          <a:p>
            <a:r>
              <a:rPr lang="en-US" sz="2400" i="1" dirty="0">
                <a:solidFill>
                  <a:schemeClr val="bg1"/>
                </a:solidFill>
              </a:rPr>
              <a:t>4. Dependence on </a:t>
            </a:r>
            <a:r>
              <a:rPr lang="en-US" sz="2400" i="1" dirty="0" err="1">
                <a:solidFill>
                  <a:schemeClr val="bg1"/>
                </a:solidFill>
              </a:rPr>
              <a:t>Elon</a:t>
            </a:r>
            <a:r>
              <a:rPr lang="en-US" sz="2400" i="1" dirty="0">
                <a:solidFill>
                  <a:schemeClr val="bg1"/>
                </a:solidFill>
              </a:rPr>
              <a:t> Musk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" y="452574"/>
            <a:ext cx="781050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5400" b="1" u="sng" dirty="0" smtClean="0">
                <a:solidFill>
                  <a:schemeClr val="bg1"/>
                </a:solidFill>
              </a:rPr>
              <a:t>Strengths &amp; Weakness</a:t>
            </a:r>
            <a:endParaRPr lang="en-US" sz="54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6057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600"/>
            <a:ext cx="9144000" cy="655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52600" y="3581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732643" y="3026229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905000" y="37338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57400" y="38862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209800" y="40386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362200" y="41910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514600" y="4343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2667000" y="44958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819400" y="46482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2971800" y="48006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3124200" y="49530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276600" y="5105400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-10886" y="1642408"/>
            <a:ext cx="4305300" cy="193899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1. Growing EV Demand</a:t>
            </a: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</a:t>
            </a:r>
            <a:r>
              <a:rPr lang="en-US" sz="2400" i="1" dirty="0" smtClean="0">
                <a:solidFill>
                  <a:schemeClr val="bg1">
                    <a:lumMod val="85000"/>
                    <a:lumOff val="15000"/>
                  </a:schemeClr>
                </a:solidFill>
              </a:rPr>
              <a:t>Strong Brand Value</a:t>
            </a:r>
            <a:endParaRPr lang="en-US" sz="2400" i="1" dirty="0">
              <a:solidFill>
                <a:schemeClr val="bg1">
                  <a:lumMod val="85000"/>
                  <a:lumOff val="15000"/>
                </a:schemeClr>
              </a:solidFill>
            </a:endParaRP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Renewable Energy Business</a:t>
            </a: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4. Autonomous Driving Technology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68421" y="4472517"/>
            <a:ext cx="3779157" cy="156966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1. Increasing Competition</a:t>
            </a: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2. Government Regulations</a:t>
            </a: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3. Supply Chain Issues</a:t>
            </a:r>
          </a:p>
          <a:p>
            <a:r>
              <a:rPr lang="en-US" sz="2400" i="1" dirty="0">
                <a:solidFill>
                  <a:schemeClr val="bg1">
                    <a:lumMod val="85000"/>
                    <a:lumOff val="15000"/>
                  </a:schemeClr>
                </a:solidFill>
              </a:rPr>
              <a:t>4. Economic Uncertainty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72" y="375146"/>
            <a:ext cx="7848600" cy="92333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5400" b="1" u="sng" dirty="0" smtClean="0">
                <a:solidFill>
                  <a:schemeClr val="bg1"/>
                </a:solidFill>
              </a:rPr>
              <a:t>Opportunities &amp; Threats </a:t>
            </a:r>
            <a:endParaRPr lang="en-US" sz="5400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49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Target Audience of Tesla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  Tesla targets customers who value innovation, sustainability, and premium  technology.</a:t>
            </a:r>
          </a:p>
          <a:p>
            <a:pPr marL="0" indent="0">
              <a:buNone/>
            </a:pPr>
            <a:r>
              <a:rPr lang="en-US" sz="2800" dirty="0" smtClean="0"/>
              <a:t>Primary Target Audience</a:t>
            </a:r>
          </a:p>
          <a:p>
            <a:r>
              <a:rPr lang="en-US" sz="1800" dirty="0" smtClean="0"/>
              <a:t>Environmentally conscious consumers</a:t>
            </a:r>
          </a:p>
          <a:p>
            <a:r>
              <a:rPr lang="en-US" sz="1800" dirty="0" smtClean="0"/>
              <a:t>High-income individuals</a:t>
            </a:r>
          </a:p>
          <a:p>
            <a:r>
              <a:rPr lang="en-US" sz="1800" dirty="0" smtClean="0"/>
              <a:t>Technology enthusiasts</a:t>
            </a:r>
          </a:p>
          <a:p>
            <a:r>
              <a:rPr lang="en-US" sz="1800" dirty="0" smtClean="0"/>
              <a:t>Luxury car buyers</a:t>
            </a:r>
          </a:p>
          <a:p>
            <a:r>
              <a:rPr lang="en-US" sz="1800" dirty="0" smtClean="0"/>
              <a:t>Young professionals and entrepreneurs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1676400" y="93209"/>
            <a:ext cx="7162800" cy="135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C00000"/>
                </a:solidFill>
              </a:rPr>
              <a:t>2. Target Audience of Tesla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676400" y="1447800"/>
            <a:ext cx="7162800" cy="48307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i="1" dirty="0" smtClean="0"/>
              <a:t>Tesla targets customers who value innovation, sustainability, and premium  technology.</a:t>
            </a:r>
          </a:p>
          <a:p>
            <a:pPr marL="0" indent="0">
              <a:buFont typeface="Arial" pitchFamily="34" charset="0"/>
              <a:buNone/>
            </a:pPr>
            <a:r>
              <a:rPr lang="en-US" sz="3600" b="1" u="sng" dirty="0" smtClean="0">
                <a:solidFill>
                  <a:srgbClr val="FF0000"/>
                </a:solidFill>
              </a:rPr>
              <a:t>Primary Target Audience</a:t>
            </a:r>
          </a:p>
          <a:p>
            <a:r>
              <a:rPr lang="en-US" sz="2800" i="1" dirty="0" smtClean="0"/>
              <a:t>Environmentally conscious consumers</a:t>
            </a:r>
          </a:p>
          <a:p>
            <a:r>
              <a:rPr lang="en-US" sz="2800" i="1" dirty="0" smtClean="0"/>
              <a:t>High-income individuals</a:t>
            </a:r>
          </a:p>
          <a:p>
            <a:r>
              <a:rPr lang="en-US" sz="2800" i="1" dirty="0" smtClean="0"/>
              <a:t>Technology enthusiasts</a:t>
            </a:r>
          </a:p>
          <a:p>
            <a:r>
              <a:rPr lang="en-US" sz="2800" i="1" dirty="0" smtClean="0"/>
              <a:t>Luxury car buyers</a:t>
            </a:r>
          </a:p>
          <a:p>
            <a:r>
              <a:rPr lang="en-US" sz="2800" i="1" dirty="0" smtClean="0"/>
              <a:t>Young professionals and entrepreneurs</a:t>
            </a:r>
          </a:p>
        </p:txBody>
      </p:sp>
    </p:spTree>
    <p:extLst>
      <p:ext uri="{BB962C8B-B14F-4D97-AF65-F5344CB8AC3E}">
        <p14:creationId xmlns:p14="http://schemas.microsoft.com/office/powerpoint/2010/main" val="24812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3527394" y="923027"/>
            <a:ext cx="1643318" cy="4648200"/>
          </a:xfrm>
          <a:prstGeom prst="ellipse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/>
          </a:p>
        </p:txBody>
      </p:sp>
      <p:sp>
        <p:nvSpPr>
          <p:cNvPr id="7" name="Moon 6"/>
          <p:cNvSpPr/>
          <p:nvPr/>
        </p:nvSpPr>
        <p:spPr>
          <a:xfrm rot="10800000">
            <a:off x="4561429" y="1058637"/>
            <a:ext cx="770995" cy="4512590"/>
          </a:xfrm>
          <a:prstGeom prst="moon">
            <a:avLst>
              <a:gd name="adj" fmla="val 70317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oon 7"/>
          <p:cNvSpPr/>
          <p:nvPr/>
        </p:nvSpPr>
        <p:spPr>
          <a:xfrm rot="10800000">
            <a:off x="4476960" y="930284"/>
            <a:ext cx="693752" cy="4648200"/>
          </a:xfrm>
          <a:prstGeom prst="moon">
            <a:avLst>
              <a:gd name="adj" fmla="val 65687"/>
            </a:avLst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endCxn id="3" idx="4"/>
          </p:cNvCxnSpPr>
          <p:nvPr/>
        </p:nvCxnSpPr>
        <p:spPr>
          <a:xfrm flipH="1">
            <a:off x="4349053" y="5571227"/>
            <a:ext cx="424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705600" y="2895600"/>
            <a:ext cx="685800" cy="685800"/>
          </a:xfrm>
          <a:prstGeom prst="ellipse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553200" y="2590800"/>
            <a:ext cx="914400" cy="1143000"/>
          </a:xfrm>
          <a:prstGeom prst="ellipse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/>
        </p:nvSpPr>
        <p:spPr>
          <a:xfrm>
            <a:off x="6819900" y="2927923"/>
            <a:ext cx="457200" cy="478749"/>
          </a:xfrm>
          <a:prstGeom prst="ellipse">
            <a:avLst/>
          </a:prstGeom>
          <a:solidFill>
            <a:schemeClr val="tx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/>
          <p:nvPr/>
        </p:nvCxnSpPr>
        <p:spPr>
          <a:xfrm>
            <a:off x="6705600" y="3162300"/>
            <a:ext cx="685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075713" y="2773542"/>
            <a:ext cx="0" cy="7775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" y="228600"/>
            <a:ext cx="9144000" cy="657893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966857" y="3133635"/>
            <a:ext cx="1866900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Tesla’s Target Market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46742" y="4131961"/>
            <a:ext cx="1963058" cy="7078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  High-Income   </a:t>
            </a:r>
          </a:p>
          <a:p>
            <a:r>
              <a:rPr lang="en-US" sz="2000" dirty="0" smtClean="0"/>
              <a:t>…..</a:t>
            </a:r>
            <a:r>
              <a:rPr lang="en-US" sz="2000" dirty="0" smtClean="0">
                <a:solidFill>
                  <a:schemeClr val="bg1"/>
                </a:solidFill>
              </a:rPr>
              <a:t>Professional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02772" y="2891219"/>
            <a:ext cx="1810657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</a:rPr>
              <a:t>   Consumers </a:t>
            </a:r>
            <a:r>
              <a:rPr lang="en-US" sz="2000" dirty="0" smtClean="0"/>
              <a:t>…</a:t>
            </a:r>
            <a:r>
              <a:rPr lang="en-US" sz="2000" dirty="0" smtClean="0">
                <a:solidFill>
                  <a:schemeClr val="bg1"/>
                </a:solidFill>
              </a:rPr>
              <a:t>w/purchasing </a:t>
            </a:r>
            <a:r>
              <a:rPr lang="en-US" sz="2000" dirty="0" smtClean="0"/>
              <a:t>…</a:t>
            </a:r>
            <a:r>
              <a:rPr lang="en-US" sz="2000" dirty="0" smtClean="0">
                <a:solidFill>
                  <a:schemeClr val="bg1"/>
                </a:solidFill>
              </a:rPr>
              <a:t>Power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46742" y="1505531"/>
            <a:ext cx="1886858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 smtClean="0">
                <a:solidFill>
                  <a:schemeClr val="bg1"/>
                </a:solidFill>
              </a:rPr>
              <a:t>     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       Felt Owners</a:t>
            </a:r>
          </a:p>
          <a:p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67" name="Oval 66"/>
          <p:cNvSpPr/>
          <p:nvPr/>
        </p:nvSpPr>
        <p:spPr>
          <a:xfrm>
            <a:off x="2289629" y="5116184"/>
            <a:ext cx="758371" cy="675016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/>
              </a:solidFill>
            </a:endParaRPr>
          </a:p>
        </p:txBody>
      </p:sp>
      <p:pic>
        <p:nvPicPr>
          <p:cNvPr id="69" name="Picture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927" y="5234351"/>
            <a:ext cx="517070" cy="4442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361042" y="5014076"/>
            <a:ext cx="1848758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/>
                </a:solidFill>
              </a:rPr>
              <a:t>Young professionals and </a:t>
            </a:r>
            <a:r>
              <a:rPr lang="en-US" sz="2000" i="1" dirty="0" smtClean="0">
                <a:solidFill>
                  <a:schemeClr val="bg1"/>
                </a:solidFill>
              </a:rPr>
              <a:t>entrepreneurs</a:t>
            </a:r>
            <a:endParaRPr lang="en-US" sz="2000" i="1" dirty="0">
              <a:solidFill>
                <a:schemeClr val="bg1"/>
              </a:solidFill>
            </a:endParaRPr>
          </a:p>
        </p:txBody>
      </p:sp>
      <p:sp>
        <p:nvSpPr>
          <p:cNvPr id="75" name="Title 74"/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</p:spPr>
        <p:txBody>
          <a:bodyPr/>
          <a:lstStyle/>
          <a:p>
            <a:r>
              <a:rPr lang="en-US" b="1" u="sng" dirty="0" smtClean="0">
                <a:solidFill>
                  <a:schemeClr val="bg1"/>
                </a:solidFill>
              </a:rPr>
              <a:t>Who Buys Tesla</a:t>
            </a:r>
            <a:endParaRPr lang="en-US" b="1" u="sn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66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Competitors of Tesla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smtClean="0"/>
              <a:t>  Tesla faces competition from both traditional automobile companies and emerging  EV brands.</a:t>
            </a:r>
          </a:p>
          <a:p>
            <a:pPr marL="0" indent="0">
              <a:buNone/>
            </a:pPr>
            <a:r>
              <a:rPr lang="en-US" sz="4300" dirty="0" smtClean="0"/>
              <a:t>Major Competitors</a:t>
            </a:r>
          </a:p>
          <a:p>
            <a:r>
              <a:rPr lang="en-US" dirty="0" smtClean="0"/>
              <a:t>1. BYD</a:t>
            </a:r>
          </a:p>
          <a:p>
            <a:r>
              <a:rPr lang="en-US" dirty="0" smtClean="0"/>
              <a:t>2. BMW</a:t>
            </a:r>
          </a:p>
          <a:p>
            <a:r>
              <a:rPr lang="en-US" dirty="0" smtClean="0"/>
              <a:t>3. Mercedes-Benz</a:t>
            </a:r>
          </a:p>
          <a:p>
            <a:r>
              <a:rPr lang="en-US" dirty="0" smtClean="0"/>
              <a:t>4. Ford Motor Company</a:t>
            </a:r>
          </a:p>
          <a:p>
            <a:r>
              <a:rPr lang="en-US" dirty="0" smtClean="0"/>
              <a:t>5. </a:t>
            </a:r>
            <a:r>
              <a:rPr lang="en-US" dirty="0" err="1" smtClean="0"/>
              <a:t>Rivian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itle 6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C00000"/>
                </a:solidFill>
              </a:rPr>
              <a:t>3. Competitors of Tesla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6" name="Content Placeholder 7"/>
          <p:cNvSpPr txBox="1">
            <a:spLocks/>
          </p:cNvSpPr>
          <p:nvPr/>
        </p:nvSpPr>
        <p:spPr>
          <a:xfrm>
            <a:off x="1524000" y="17526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 Tesla faces competition from both traditional automobile companies and emerging  EV brands.</a:t>
            </a:r>
          </a:p>
          <a:p>
            <a:pPr marL="0" indent="0">
              <a:buFont typeface="Arial" pitchFamily="34" charset="0"/>
              <a:buNone/>
            </a:pPr>
            <a:r>
              <a:rPr lang="en-US" sz="4300" b="1" u="sng" dirty="0" smtClean="0">
                <a:solidFill>
                  <a:srgbClr val="FF0000"/>
                </a:solidFill>
              </a:rPr>
              <a:t>Major Competitors</a:t>
            </a:r>
          </a:p>
          <a:p>
            <a:pPr marL="514350" indent="-514350">
              <a:buAutoNum type="arabicPeriod"/>
            </a:pPr>
            <a:r>
              <a:rPr lang="en-US" i="1" dirty="0" smtClean="0"/>
              <a:t>BYD</a:t>
            </a:r>
          </a:p>
          <a:p>
            <a:pPr marL="0" indent="0">
              <a:buNone/>
            </a:pPr>
            <a:r>
              <a:rPr lang="en-US" i="1" dirty="0" smtClean="0"/>
              <a:t>2. BMW</a:t>
            </a:r>
          </a:p>
          <a:p>
            <a:pPr marL="0" indent="0">
              <a:buNone/>
            </a:pPr>
            <a:r>
              <a:rPr lang="en-US" i="1" dirty="0" smtClean="0"/>
              <a:t>3. NIO</a:t>
            </a:r>
          </a:p>
          <a:p>
            <a:pPr marL="0" indent="0">
              <a:buNone/>
            </a:pPr>
            <a:r>
              <a:rPr lang="en-US" i="1" dirty="0" smtClean="0"/>
              <a:t>4. Hyundai Motor Groups</a:t>
            </a:r>
          </a:p>
          <a:p>
            <a:pPr marL="0" indent="0">
              <a:buNone/>
            </a:pPr>
            <a:r>
              <a:rPr lang="en-US" i="1" dirty="0" smtClean="0"/>
              <a:t>5. Toyota</a:t>
            </a:r>
          </a:p>
        </p:txBody>
      </p:sp>
    </p:spTree>
    <p:extLst>
      <p:ext uri="{BB962C8B-B14F-4D97-AF65-F5344CB8AC3E}">
        <p14:creationId xmlns:p14="http://schemas.microsoft.com/office/powerpoint/2010/main" val="2788870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2229"/>
            <a:ext cx="9144000" cy="654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223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Current Market Trends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1. Rapid Growth of Electric Vehicles</a:t>
            </a:r>
          </a:p>
          <a:p>
            <a:pPr marL="0" indent="0">
              <a:buNone/>
            </a:pPr>
            <a:r>
              <a:rPr lang="en-US" dirty="0" smtClean="0"/>
              <a:t>2.Shift Toward Sustainable Transportation</a:t>
            </a:r>
          </a:p>
          <a:p>
            <a:pPr marL="0" indent="0">
              <a:buNone/>
            </a:pPr>
            <a:r>
              <a:rPr lang="en-US" dirty="0" smtClean="0"/>
              <a:t>3. Government Incentives</a:t>
            </a:r>
          </a:p>
          <a:p>
            <a:pPr marL="0" indent="0">
              <a:buNone/>
            </a:pPr>
            <a:r>
              <a:rPr lang="en-US" dirty="0" smtClean="0"/>
              <a:t>4. AI and Autonomous Driving</a:t>
            </a:r>
          </a:p>
          <a:p>
            <a:pPr marL="0" indent="0">
              <a:buNone/>
            </a:pPr>
            <a:r>
              <a:rPr lang="en-US" dirty="0" smtClean="0"/>
              <a:t>5. Expansion of Charging Infrastructure</a:t>
            </a:r>
          </a:p>
          <a:p>
            <a:pPr marL="0" indent="0">
              <a:buNone/>
            </a:pPr>
            <a:r>
              <a:rPr lang="en-US" dirty="0" smtClean="0"/>
              <a:t>6.Battery Technology Improvements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" y="0"/>
            <a:ext cx="9136743" cy="68580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C00000"/>
                </a:solidFill>
              </a:rPr>
              <a:t>4. Current Market Trends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24000" y="1752601"/>
            <a:ext cx="7543800" cy="5055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1.  Growth of Electric Vehicle (EV)</a:t>
            </a:r>
          </a:p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2. Rising Competition</a:t>
            </a:r>
          </a:p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3. Focus on Autonomous Driving</a:t>
            </a:r>
          </a:p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4. AI and Robotic Trends</a:t>
            </a:r>
          </a:p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5. Expansion of Charging Infrastructure</a:t>
            </a:r>
          </a:p>
          <a:p>
            <a:pPr marL="0" indent="0">
              <a:buFont typeface="Arial" pitchFamily="34" charset="0"/>
              <a:buNone/>
            </a:pPr>
            <a:r>
              <a:rPr lang="en-US" i="1" dirty="0" smtClean="0"/>
              <a:t> 6. Battery Technology Improvements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767304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7073"/>
            <a:ext cx="9144000" cy="64211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914" y="5458361"/>
            <a:ext cx="9104086" cy="132343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8000" dirty="0" smtClean="0"/>
              <a:t>ds</a:t>
            </a:r>
            <a:endParaRPr lang="en-US" sz="8000" dirty="0"/>
          </a:p>
        </p:txBody>
      </p:sp>
      <p:sp>
        <p:nvSpPr>
          <p:cNvPr id="11" name="TextBox 10"/>
          <p:cNvSpPr txBox="1"/>
          <p:nvPr/>
        </p:nvSpPr>
        <p:spPr>
          <a:xfrm>
            <a:off x="587828" y="655260"/>
            <a:ext cx="7467600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96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587828" y="317074"/>
            <a:ext cx="6041572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939314" y="780157"/>
            <a:ext cx="968503" cy="600164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sz="4800" dirty="0" smtClean="0"/>
          </a:p>
          <a:p>
            <a:endParaRPr lang="en-US" sz="4800" dirty="0"/>
          </a:p>
          <a:p>
            <a:endParaRPr lang="en-US" sz="4800" dirty="0" smtClean="0"/>
          </a:p>
          <a:p>
            <a:endParaRPr lang="en-US" sz="4800" dirty="0"/>
          </a:p>
          <a:p>
            <a:endParaRPr lang="en-US" sz="4800" dirty="0" smtClean="0"/>
          </a:p>
          <a:p>
            <a:endParaRPr lang="en-US" sz="4800" dirty="0"/>
          </a:p>
          <a:p>
            <a:endParaRPr lang="en-US" sz="4800" dirty="0" smtClean="0"/>
          </a:p>
          <a:p>
            <a:r>
              <a:rPr lang="en-US" sz="4800" dirty="0" smtClean="0"/>
              <a:t>s</a:t>
            </a:r>
            <a:endParaRPr lang="en-US" sz="4800" dirty="0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457200" y="280788"/>
            <a:ext cx="8229600" cy="1860460"/>
          </a:xfrm>
        </p:spPr>
        <p:txBody>
          <a:bodyPr>
            <a:normAutofit/>
          </a:bodyPr>
          <a:lstStyle/>
          <a:p>
            <a:r>
              <a:rPr lang="en-US" sz="6000" b="1" u="sng" dirty="0" smtClean="0">
                <a:solidFill>
                  <a:schemeClr val="bg1"/>
                </a:solidFill>
              </a:rPr>
              <a:t>Global EV Market Share</a:t>
            </a:r>
            <a:endParaRPr lang="en-US" sz="2200" b="1" u="sng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19828" y="2040254"/>
            <a:ext cx="480060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124200" y="2514600"/>
            <a:ext cx="35052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629400" y="2514600"/>
            <a:ext cx="1309914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627,371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1652159"/>
            <a:ext cx="48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Number of Electric Vehicle Sold (2024)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57400" y="2514600"/>
            <a:ext cx="1066800" cy="40011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</a:t>
            </a:r>
            <a:r>
              <a:rPr lang="en-US" sz="2000" dirty="0" smtClean="0">
                <a:solidFill>
                  <a:srgbClr val="FF0000"/>
                </a:solidFill>
              </a:rPr>
              <a:t>esla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5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Tesla has become a global leader in the Electric vehicle industry through innovation, strong branding, and sustainable technology. Despite challenges such as rising competition and high production costs, Tesla continues to maintain a competition advantage through advanced technology and customer loyalty. The growing demand for electric vehicles and renewable energy solution provides strong future growth opportunities for the company.</a:t>
            </a:r>
          </a:p>
          <a:p>
            <a:pPr marL="0" indent="0">
              <a:buNone/>
            </a:pPr>
            <a:r>
              <a:rPr lang="en-US" sz="2800" dirty="0" smtClean="0"/>
              <a:t>Overall, Tesla’s business strategy and market positioning make it one of the most influential companies in the modern automobile industry</a:t>
            </a:r>
            <a:r>
              <a:rPr lang="en-US" sz="2800" dirty="0"/>
              <a:t>.</a:t>
            </a:r>
            <a:endParaRPr lang="en-US" sz="28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152400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u="sng" dirty="0" smtClean="0">
                <a:solidFill>
                  <a:srgbClr val="C00000"/>
                </a:solidFill>
              </a:rPr>
              <a:t>Conclusion</a:t>
            </a:r>
            <a:endParaRPr lang="en-US" b="1" u="sng" dirty="0">
              <a:solidFill>
                <a:srgbClr val="C0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509485" y="1266371"/>
            <a:ext cx="7634515" cy="554082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Tesla has become a global leader in the electric         vehicle industry through innovation, strong branding, and sustainable technology. Despite challenges such as rising competition and high production costs, tesla continues to maintain a competition advantage through advanced technology and customer loyalty. The growing demand for electric vehicles and renewable energy solution provides strong future growth opportunities for the company.</a:t>
            </a:r>
          </a:p>
          <a:p>
            <a:pPr marL="0" indent="0">
              <a:buFont typeface="Arial" pitchFamily="34" charset="0"/>
              <a:buNone/>
            </a:pPr>
            <a:r>
              <a:rPr lang="en-US" sz="28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Overall, tesla’s business strategy and market positioning make it one of the most influential companies in the modern automobile industry.</a:t>
            </a:r>
          </a:p>
        </p:txBody>
      </p:sp>
    </p:spTree>
    <p:extLst>
      <p:ext uri="{BB962C8B-B14F-4D97-AF65-F5344CB8AC3E}">
        <p14:creationId xmlns:p14="http://schemas.microsoft.com/office/powerpoint/2010/main" val="1826301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4" y="0"/>
            <a:ext cx="9144000" cy="6858000"/>
          </a:xfrm>
          <a:prstGeom prst="rect">
            <a:avLst/>
          </a:prstGeom>
        </p:spPr>
      </p:pic>
      <p:sp>
        <p:nvSpPr>
          <p:cNvPr id="6" name="Title 5"/>
          <p:cNvSpPr>
            <a:spLocks noGrp="1"/>
          </p:cNvSpPr>
          <p:nvPr>
            <p:ph type="ctrTitle" idx="4294967295"/>
          </p:nvPr>
        </p:nvSpPr>
        <p:spPr>
          <a:xfrm>
            <a:off x="1905000" y="2362200"/>
            <a:ext cx="6934200" cy="1752600"/>
          </a:xfrm>
        </p:spPr>
        <p:txBody>
          <a:bodyPr>
            <a:normAutofit/>
          </a:bodyPr>
          <a:lstStyle/>
          <a:p>
            <a:r>
              <a:rPr lang="en-US" sz="8800" b="1" i="1" u="sng" dirty="0" smtClean="0">
                <a:solidFill>
                  <a:srgbClr val="C00000"/>
                </a:solidFill>
              </a:rPr>
              <a:t>Thank You</a:t>
            </a:r>
            <a:endParaRPr lang="en-US" sz="8800" b="1" i="1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022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1548</TotalTime>
  <Words>741</Words>
  <Application>Microsoft Office PowerPoint</Application>
  <PresentationFormat>On-screen Show (4:3)</PresentationFormat>
  <Paragraphs>112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MARKET RESEARCH REPORT on Tesla </vt:lpstr>
      <vt:lpstr>INTRODUTION  OF TESLA</vt:lpstr>
      <vt:lpstr>PowerPoint Presentation</vt:lpstr>
      <vt:lpstr>PowerPoint Presentation</vt:lpstr>
      <vt:lpstr>PowerPoint Presentation</vt:lpstr>
      <vt:lpstr>2. Target Audience of Tesla</vt:lpstr>
      <vt:lpstr>Who Buys Tesla</vt:lpstr>
      <vt:lpstr>3. Competitors of Tesla</vt:lpstr>
      <vt:lpstr>PowerPoint Presentation</vt:lpstr>
      <vt:lpstr>4. Current Market Trends</vt:lpstr>
      <vt:lpstr>Global EV Market Share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62</cp:revision>
  <dcterms:created xsi:type="dcterms:W3CDTF">2026-06-02T07:46:37Z</dcterms:created>
  <dcterms:modified xsi:type="dcterms:W3CDTF">2026-06-09T17:09:13Z</dcterms:modified>
</cp:coreProperties>
</file>